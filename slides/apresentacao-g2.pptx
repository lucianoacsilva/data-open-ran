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657E0E-1579-4CF8-B2BB-C5665212ADF9}" v="54" dt="2026-08-28T18:22:45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Bartholo Favilla" userId="4bf3119decef73cb" providerId="Windows Live" clId="Web-{67657E0E-1579-4CF8-B2BB-C5665212ADF9}"/>
    <pc:docChg chg="modSld">
      <pc:chgData name="Felipe Bartholo Favilla" userId="4bf3119decef73cb" providerId="Windows Live" clId="Web-{67657E0E-1579-4CF8-B2BB-C5665212ADF9}" dt="2026-08-28T18:22:43.037" v="25"/>
      <pc:docMkLst>
        <pc:docMk/>
      </pc:docMkLst>
      <pc:sldChg chg="modSp">
        <pc:chgData name="Felipe Bartholo Favilla" userId="4bf3119decef73cb" providerId="Windows Live" clId="Web-{67657E0E-1579-4CF8-B2BB-C5665212ADF9}" dt="2026-08-28T18:22:43.037" v="25"/>
        <pc:sldMkLst>
          <pc:docMk/>
          <pc:sldMk cId="0" sldId="258"/>
        </pc:sldMkLst>
        <pc:spChg chg="mod">
          <ac:chgData name="Felipe Bartholo Favilla" userId="4bf3119decef73cb" providerId="Windows Live" clId="Web-{67657E0E-1579-4CF8-B2BB-C5665212ADF9}" dt="2026-08-28T18:20:26.756" v="7" actId="20577"/>
          <ac:spMkLst>
            <pc:docMk/>
            <pc:sldMk cId="0" sldId="258"/>
            <ac:spMk id="3" creationId="{00000000-0000-0000-0000-000000000000}"/>
          </ac:spMkLst>
        </pc:spChg>
        <pc:graphicFrameChg chg="mod modGraphic">
          <ac:chgData name="Felipe Bartholo Favilla" userId="4bf3119decef73cb" providerId="Windows Live" clId="Web-{67657E0E-1579-4CF8-B2BB-C5665212ADF9}" dt="2026-08-28T18:22:43.037" v="25"/>
          <ac:graphicFrameMkLst>
            <pc:docMk/>
            <pc:sldMk cId="0" sldId="258"/>
            <ac:graphicFrameMk id="6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68EDB4-F13A-4808-A41B-85E6418FA928}" type="datetimeFigureOut">
              <a:t>28/08/2026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F39BA-BB35-4ABC-91D3-A244E2982DB2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44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Abertura: identificar o grupo e o tema, e enunciar em uma frase o que foi feito — um pipeline reproduzível sobre telemetria KPM do laboratório, com dois indicadores e uma recomendação em execução simulada.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Delimitar o escopo antes de qualquer número. A pergunta trata de comportamento sustentado, não de picos. A carga é gerada por iperf no uplink, então a vazão sobe na fase de stress em vez de cair: a anomalia é de carga, não de falha. Essa é a dúvida mais provável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 achados são calculados no notebook de ETL, não afirmados. O primeiro é o que sustenta a variante V2 apresentada adiante; os demais delimitam o que é honesto concluir. Passar rápido pelos três últimos.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MAD é adequado porque mediana e desvio absoluto mediano resistem a outliers, e o outlier é justamente o objeto. O limiar 3,5 vem do modelo do laboratório e foi mantido para permitir conferência. A verificação contra os artefatos do docente é o ponto a enfatizar: garante que a divergência V1/V2 é deliberada.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Ler as duas fórmulas devagar, com unidade e granularidade — são os itens que a rubrica cobra explicitamente. A justificativa da saturação é a parte substantiva: sem o limite, o índice deixa de ser adimensional e vira a vazão em kbps sob outro 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é o núcleo quantitativo. Duas ordens de grandeza de separação no ISC. O segundo ponto — a regra de duas métricas — é o que torna o detector utilizável, e o número 45 % mostra isso de forma direta.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Deixar o gráfico falar antes de comentar. Apontar o degrau na amostra 20 e o retorno na 80. O eixo horizontal é índice de amostra, não tempo de relógio — limitação já enunciada.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painel da esquerda mostra que o sinal é robusto: a TAA quase não muda entre variantes. O da direita mostra onde a correção age — nos flags isolados de atraso nas fases calmas, que caem de nove para zero e para dois.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Declarar os erros antes de serem perguntados. Ambos têm causa física identificada, o que é diferente de ruído do modelo. O último ponto é uma perda real de sensibilidade em V2 e deve ser dito, não omitido.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Enunciar a frase de execução simulada por inteiro: é requisito explícito do briefing. Se perguntarem se algo mudou na rede, a resposta é não — o JSON da política foi gerado e versionado como artefato, sem envio ao 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como delimitação consciente de escopo, sem pedir desculpas. A maior parte das perguntas previsíveis da banca já está respondida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Fechar com as conclusões objetivas e encerrar. Não resumir a apresentação novamente. A última frase deixa explícito o estatuto da recomendação.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2148840"/>
            <a:ext cx="9037911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  <a:defRPr sz="4000" b="1">
                <a:solidFill>
                  <a:srgbClr val="1A1A1A"/>
                </a:solidFill>
                <a:latin typeface="Segoe UI"/>
              </a:defRPr>
            </a:pPr>
            <a:r>
              <a:rPr sz="4000" b="1">
                <a:solidFill>
                  <a:srgbClr val="1A1A1A"/>
                </a:solidFill>
                <a:latin typeface="Segoe UI"/>
              </a:rPr>
              <a:t>Detecção de anomalia de carga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2400" b="0">
                <a:solidFill>
                  <a:srgbClr val="444444"/>
                </a:solidFill>
                <a:latin typeface="Segoe UI"/>
              </a:defRPr>
            </a:pPr>
            <a:r>
              <a:rPr sz="2400" b="0">
                <a:solidFill>
                  <a:srgbClr val="444444"/>
                </a:solidFill>
                <a:latin typeface="Segoe UI"/>
              </a:rPr>
              <a:t>em telemetria KPM/E2 de laboratório O-RAN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4114800"/>
            <a:ext cx="2926080" cy="0"/>
          </a:xfrm>
          <a:prstGeom prst="line">
            <a:avLst/>
          </a:prstGeom>
          <a:ln w="1651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4370832"/>
            <a:ext cx="9037911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  <a:defRPr sz="1500" b="1">
                <a:solidFill>
                  <a:srgbClr val="1A1A1A"/>
                </a:solidFill>
                <a:latin typeface="Segoe UI"/>
              </a:defRPr>
            </a:pPr>
            <a:r>
              <a:rPr sz="1500" b="1">
                <a:solidFill>
                  <a:srgbClr val="1A1A1A"/>
                </a:solidFill>
                <a:latin typeface="Segoe UI"/>
              </a:rPr>
              <a:t>Projeto Integrador · Tema G2 — Grupo 1</a:t>
            </a:r>
          </a:p>
          <a:p>
            <a:pPr algn="l">
              <a:lnSpc>
                <a:spcPct val="124000"/>
              </a:lnSpc>
              <a:spcAft>
                <a:spcPts val="500"/>
              </a:spcAft>
              <a:defRPr sz="1400" b="0">
                <a:solidFill>
                  <a:srgbClr val="444444"/>
                </a:solidFill>
                <a:latin typeface="Segoe UI"/>
              </a:defRPr>
            </a:pPr>
            <a:r>
              <a:rPr sz="1400" b="0">
                <a:solidFill>
                  <a:srgbClr val="444444"/>
                </a:solidFill>
                <a:latin typeface="Segoe UI"/>
              </a:rPr>
              <a:t>Análise de Dados em Redes de Telecom · CESAR School</a:t>
            </a:r>
          </a:p>
          <a:p>
            <a:pPr algn="l">
              <a:lnSpc>
                <a:spcPct val="124000"/>
              </a:lnSpc>
              <a:spcAft>
                <a:spcPts val="0"/>
              </a:spcAft>
              <a:defRPr sz="1400" b="0">
                <a:solidFill>
                  <a:srgbClr val="707070"/>
                </a:solidFill>
                <a:latin typeface="Segoe UI"/>
              </a:defRPr>
            </a:pPr>
            <a:r>
              <a:rPr sz="1400" b="0">
                <a:solidFill>
                  <a:srgbClr val="707070"/>
                </a:solidFill>
                <a:latin typeface="Segoe UI"/>
              </a:rPr>
              <a:t>29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1A1A1A"/>
                </a:solidFill>
                <a:latin typeface="Segoe UI"/>
              </a:defRPr>
            </a:pPr>
            <a:r>
              <a:rPr sz="2500" b="1">
                <a:solidFill>
                  <a:srgbClr val="1A1A1A"/>
                </a:solidFill>
                <a:latin typeface="Segoe UI"/>
              </a:rPr>
              <a:t>Objetivo e fonte de dados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188720"/>
            <a:ext cx="10509199" cy="0"/>
          </a:xfrm>
          <a:prstGeom prst="line">
            <a:avLst/>
          </a:prstGeom>
          <a:ln w="1143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444752"/>
            <a:ext cx="1050919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1200"/>
              </a:spcAft>
              <a:defRPr sz="1600" b="0">
                <a:solidFill>
                  <a:srgbClr val="444444"/>
                </a:solidFill>
                <a:latin typeface="Segoe UI"/>
              </a:defRPr>
            </a:pPr>
            <a:r>
              <a:rPr sz="1600" b="0">
                <a:solidFill>
                  <a:srgbClr val="444444"/>
                </a:solidFill>
                <a:latin typeface="Segoe UI"/>
              </a:rPr>
              <a:t>Identificar em que trechos a rede se afasta do comportamento de referência de forma </a:t>
            </a:r>
            <a:r>
              <a:rPr sz="1600" b="1">
                <a:solidFill>
                  <a:srgbClr val="1A1A1A"/>
                </a:solidFill>
                <a:latin typeface="Segoe UI"/>
              </a:rPr>
              <a:t>sustentada</a:t>
            </a:r>
            <a:r>
              <a:rPr sz="1600" b="0">
                <a:solidFill>
                  <a:srgbClr val="444444"/>
                </a:solidFill>
                <a:latin typeface="Segoe UI"/>
              </a:rPr>
              <a:t>, e não em picos isolados.</a:t>
            </a:r>
          </a:p>
          <a:p>
            <a:pPr marL="219456" indent="-219456" algn="l">
              <a:lnSpc>
                <a:spcPct val="124000"/>
              </a:lnSpc>
              <a:spcAft>
                <a:spcPts val="700"/>
              </a:spcAft>
              <a:defRPr sz="1450" b="0">
                <a:solidFill>
                  <a:srgbClr val="444444"/>
                </a:solidFill>
                <a:latin typeface="Segoe UI"/>
              </a:defRPr>
            </a:pPr>
            <a:r>
              <a:rPr sz="1450" b="0">
                <a:solidFill>
                  <a:srgbClr val="444444"/>
                </a:solidFill>
                <a:latin typeface="Segoe UI"/>
              </a:rPr>
              <a:t>—  Fonte: trilha offline do laboratório </a:t>
            </a:r>
            <a:r>
              <a:rPr sz="1348">
                <a:solidFill>
                  <a:srgbClr val="444444"/>
                </a:solidFill>
                <a:latin typeface="Consolas"/>
              </a:rPr>
              <a:t>oai-cn-gnb-nonrt-nearrt</a:t>
            </a:r>
            <a:r>
              <a:rPr sz="1450" b="0">
                <a:solidFill>
                  <a:srgbClr val="444444"/>
                </a:solidFill>
                <a:latin typeface="Segoe UI"/>
              </a:rPr>
              <a:t>, arquivo </a:t>
            </a:r>
            <a:r>
              <a:rPr sz="1348">
                <a:solidFill>
                  <a:srgbClr val="444444"/>
                </a:solidFill>
                <a:latin typeface="Consolas"/>
              </a:rPr>
              <a:t>code/datasets/kpm-ue-tp-sample/kpm.sqlite</a:t>
            </a:r>
            <a:r>
              <a:rPr sz="1450" b="0">
                <a:solidFill>
                  <a:srgbClr val="444444"/>
                </a:solidFill>
                <a:latin typeface="Segoe UI"/>
              </a:rPr>
              <a:t>, execução </a:t>
            </a:r>
            <a:r>
              <a:rPr sz="1348">
                <a:solidFill>
                  <a:srgbClr val="444444"/>
                </a:solidFill>
                <a:latin typeface="Consolas"/>
              </a:rPr>
              <a:t>ue-tp-20260804-174422</a:t>
            </a:r>
            <a:r>
              <a:rPr sz="1450" b="0">
                <a:solidFill>
                  <a:srgbClr val="444444"/>
                </a:solidFill>
                <a:latin typeface="Segoe UI"/>
              </a:rPr>
              <a:t>.</a:t>
            </a:r>
          </a:p>
          <a:p>
            <a:pPr marL="219456" indent="-219456" algn="l">
              <a:lnSpc>
                <a:spcPct val="124000"/>
              </a:lnSpc>
              <a:spcAft>
                <a:spcPts val="700"/>
              </a:spcAft>
              <a:defRPr sz="1450" b="0">
                <a:solidFill>
                  <a:srgbClr val="444444"/>
                </a:solidFill>
                <a:latin typeface="Segoe UI"/>
              </a:defRPr>
            </a:pPr>
            <a:r>
              <a:rPr sz="1450" b="0">
                <a:solidFill>
                  <a:srgbClr val="444444"/>
                </a:solidFill>
                <a:latin typeface="Segoe UI"/>
              </a:rPr>
              <a:t>—  Origem: gNB OAI em RFSIM com agente E2; Near-RT RIC (FlexRIC); xApp assinando E2SM-KPM.</a:t>
            </a:r>
          </a:p>
          <a:p>
            <a:pPr marL="219456" indent="-219456" algn="l">
              <a:lnSpc>
                <a:spcPct val="124000"/>
              </a:lnSpc>
              <a:spcAft>
                <a:spcPts val="700"/>
              </a:spcAft>
              <a:defRPr sz="1450" b="0">
                <a:solidFill>
                  <a:srgbClr val="444444"/>
                </a:solidFill>
                <a:latin typeface="Segoe UI"/>
              </a:defRPr>
            </a:pPr>
            <a:r>
              <a:rPr sz="1450" b="0">
                <a:solidFill>
                  <a:srgbClr val="444444"/>
                </a:solidFill>
                <a:latin typeface="Segoe UI"/>
              </a:rPr>
              <a:t>—  100 amostras: 20 em baseline, 60 em stress, 20 em recovery. Carga gerada por </a:t>
            </a:r>
            <a:r>
              <a:rPr sz="1348">
                <a:solidFill>
                  <a:srgbClr val="444444"/>
                </a:solidFill>
                <a:latin typeface="Consolas"/>
              </a:rPr>
              <a:t>iperf</a:t>
            </a:r>
            <a:r>
              <a:rPr sz="1450" b="0">
                <a:solidFill>
                  <a:srgbClr val="444444"/>
                </a:solidFill>
                <a:latin typeface="Segoe UI"/>
              </a:rPr>
              <a:t> no uplink.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3611880"/>
          <a:ext cx="10509195" cy="1627632"/>
        </p:xfrm>
        <a:graphic>
          <a:graphicData uri="http://schemas.openxmlformats.org/drawingml/2006/table">
            <a:tbl>
              <a:tblPr/>
              <a:tblGrid>
                <a:gridCol w="2522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3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1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12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6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260" b="1">
                          <a:solidFill>
                            <a:srgbClr val="1A1A1A"/>
                          </a:solidFill>
                          <a:latin typeface="Segoe UI"/>
                        </a:rPr>
                        <a:t>Métrica</a:t>
                      </a: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7780" cap="flat" cmpd="sng" algn="ctr">
                      <a:solidFill>
                        <a:srgbClr val="333333"/>
                      </a:solidFill>
                    </a:lnT>
                    <a:lnB w="1143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6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260" b="1">
                          <a:solidFill>
                            <a:srgbClr val="1A1A1A"/>
                          </a:solidFill>
                          <a:latin typeface="Segoe UI"/>
                        </a:rPr>
                        <a:t>Unidade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7780" cap="flat" cmpd="sng" algn="ctr">
                      <a:solidFill>
                        <a:srgbClr val="333333"/>
                      </a:solidFill>
                    </a:lnT>
                    <a:lnB w="1143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6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260" b="1">
                          <a:solidFill>
                            <a:srgbClr val="1A1A1A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7780" cap="flat" cmpd="sng" algn="ctr">
                      <a:solidFill>
                        <a:srgbClr val="333333"/>
                      </a:solidFill>
                    </a:lnT>
                    <a:lnB w="1143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6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260" b="1">
                          <a:solidFill>
                            <a:srgbClr val="1A1A1A"/>
                          </a:solidFill>
                          <a:latin typeface="Segoe UI"/>
                        </a:rPr>
                        <a:t>Stress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7780" cap="flat" cmpd="sng" algn="ctr">
                      <a:solidFill>
                        <a:srgbClr val="333333"/>
                      </a:solidFill>
                    </a:lnT>
                    <a:lnB w="1143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6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260" b="1">
                          <a:solidFill>
                            <a:srgbClr val="1A1A1A"/>
                          </a:solidFill>
                          <a:latin typeface="Segoe UI"/>
                        </a:rPr>
                        <a:t>Recovery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7780" cap="flat" cmpd="sng" algn="ctr">
                      <a:solidFill>
                        <a:srgbClr val="333333"/>
                      </a:solidFill>
                    </a:lnT>
                    <a:lnB w="1143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>
                          <a:solidFill>
                            <a:srgbClr val="444444"/>
                          </a:solidFill>
                          <a:latin typeface="Segoe UI"/>
                        </a:rPr>
                        <a:t>RRU.PrbTotUl</a:t>
                      </a: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143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>
                          <a:solidFill>
                            <a:srgbClr val="444444"/>
                          </a:solidFill>
                          <a:latin typeface="Segoe UI"/>
                        </a:rPr>
                        <a:t>ocupação de PRB no uplink, %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143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400" b="0">
                          <a:solidFill>
                            <a:srgbClr val="444444"/>
                          </a:solidFill>
                          <a:latin typeface="Consolas"/>
                        </a:rPr>
                        <a:t>2,00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143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400" b="0">
                          <a:solidFill>
                            <a:srgbClr val="1F4E79"/>
                          </a:solidFill>
                          <a:latin typeface="Consolas"/>
                        </a:defRPr>
                      </a:pPr>
                      <a:r>
                        <a:rPr sz="1400" b="0">
                          <a:solidFill>
                            <a:srgbClr val="1F4E79"/>
                          </a:solidFill>
                          <a:latin typeface="Consolas"/>
                        </a:rPr>
                        <a:t>99,00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143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400" b="0">
                          <a:solidFill>
                            <a:srgbClr val="444444"/>
                          </a:solidFill>
                          <a:latin typeface="Consolas"/>
                        </a:rPr>
                        <a:t>2,00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143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>
                          <a:solidFill>
                            <a:srgbClr val="444444"/>
                          </a:solidFill>
                          <a:latin typeface="Segoe UI"/>
                        </a:rPr>
                        <a:t>DRB.UEThpUl</a:t>
                      </a: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>
                          <a:solidFill>
                            <a:srgbClr val="444444"/>
                          </a:solidFill>
                          <a:latin typeface="Segoe UI"/>
                        </a:rPr>
                        <a:t>vazão do UE no uplink, kbps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400" b="0">
                          <a:solidFill>
                            <a:srgbClr val="444444"/>
                          </a:solidFill>
                          <a:latin typeface="Consolas"/>
                        </a:rPr>
                        <a:t>3,72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400" b="0">
                          <a:solidFill>
                            <a:srgbClr val="1F4E79"/>
                          </a:solidFill>
                          <a:latin typeface="Consolas"/>
                        </a:defRPr>
                      </a:pPr>
                      <a:r>
                        <a:rPr sz="1400" b="0">
                          <a:solidFill>
                            <a:srgbClr val="1F4E79"/>
                          </a:solidFill>
                          <a:latin typeface="Consolas"/>
                        </a:rPr>
                        <a:t>80 023,68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400" b="0">
                          <a:solidFill>
                            <a:srgbClr val="444444"/>
                          </a:solidFill>
                          <a:latin typeface="Consolas"/>
                        </a:rPr>
                        <a:t>3,72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>
                          <a:solidFill>
                            <a:srgbClr val="444444"/>
                          </a:solidFill>
                          <a:latin typeface="Segoe UI"/>
                        </a:rPr>
                        <a:t>DRB.RlcSduDelayDl</a:t>
                      </a: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1778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>
                          <a:solidFill>
                            <a:srgbClr val="444444"/>
                          </a:solidFill>
                          <a:latin typeface="Segoe UI"/>
                        </a:rPr>
                        <a:t>atraso de SDU RLC no downlink, µs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1778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400" b="0">
                          <a:solidFill>
                            <a:srgbClr val="444444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1778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400" b="0">
                          <a:solidFill>
                            <a:srgbClr val="1F4E79"/>
                          </a:solidFill>
                          <a:latin typeface="Consolas"/>
                        </a:defRPr>
                      </a:pPr>
                      <a:r>
                        <a:rPr sz="1400" b="0">
                          <a:solidFill>
                            <a:srgbClr val="1F4E79"/>
                          </a:solidFill>
                          <a:latin typeface="Consolas"/>
                        </a:rPr>
                        <a:t>158,90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1778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400" b="0">
                          <a:solidFill>
                            <a:srgbClr val="444444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1778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5440680"/>
            <a:ext cx="105091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1300" b="0">
                <a:solidFill>
                  <a:srgbClr val="707070"/>
                </a:solidFill>
                <a:latin typeface="Segoe UI"/>
              </a:defRPr>
            </a:pPr>
            <a:r>
              <a:rPr sz="1300" b="0">
                <a:solidFill>
                  <a:srgbClr val="707070"/>
                </a:solidFill>
                <a:latin typeface="Segoe UI"/>
              </a:rPr>
              <a:t>Valores medianos por fase. A fase de stress eleva as três métricas simultaneamente.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382512"/>
            <a:ext cx="7356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Segoe UI"/>
              </a:defRPr>
            </a:pPr>
            <a:r>
              <a:rPr sz="950" b="0">
                <a:solidFill>
                  <a:srgbClr val="707070"/>
                </a:solidFill>
                <a:latin typeface="Segoe UI"/>
              </a:rPr>
              <a:t>Projeto Integrador · Tema G2 — Anomalia de carga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7687" y="6382512"/>
            <a:ext cx="31527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Consolas"/>
              </a:defRPr>
            </a:pPr>
            <a:r>
              <a:rPr sz="950" b="0">
                <a:solidFill>
                  <a:srgbClr val="707070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10509199" cy="375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1A1A1A"/>
                </a:solidFill>
                <a:latin typeface="Segoe UI"/>
              </a:defRPr>
            </a:pPr>
            <a:r>
              <a:rPr lang="pt-BR" sz="2500" b="1" dirty="0">
                <a:solidFill>
                  <a:srgbClr val="1A1A1A"/>
                </a:solidFill>
                <a:latin typeface="Segoe UI"/>
              </a:rPr>
              <a:t>Análise</a:t>
            </a:r>
            <a:r>
              <a:rPr sz="2500" b="1" dirty="0">
                <a:solidFill>
                  <a:srgbClr val="1A1A1A"/>
                </a:solidFill>
                <a:latin typeface="Segoe UI"/>
              </a:rPr>
              <a:t> de </a:t>
            </a:r>
            <a:r>
              <a:rPr sz="2500" b="1" dirty="0" err="1">
                <a:solidFill>
                  <a:srgbClr val="1A1A1A"/>
                </a:solidFill>
                <a:latin typeface="Segoe UI"/>
              </a:rPr>
              <a:t>qualidade</a:t>
            </a:r>
            <a:r>
              <a:rPr sz="2500" b="1" dirty="0">
                <a:solidFill>
                  <a:srgbClr val="1A1A1A"/>
                </a:solidFill>
                <a:latin typeface="Segoe UI"/>
              </a:rPr>
              <a:t> dos dados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188720"/>
            <a:ext cx="10509199" cy="0"/>
          </a:xfrm>
          <a:prstGeom prst="line">
            <a:avLst/>
          </a:prstGeom>
          <a:ln w="1143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444752"/>
            <a:ext cx="1050919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1450" b="0">
                <a:solidFill>
                  <a:srgbClr val="444444"/>
                </a:solidFill>
                <a:latin typeface="Segoe UI"/>
              </a:defRPr>
            </a:pPr>
            <a:r>
              <a:rPr sz="1450" b="0">
                <a:solidFill>
                  <a:srgbClr val="444444"/>
                </a:solidFill>
                <a:latin typeface="Segoe UI"/>
              </a:rPr>
              <a:t>Verificados em código antes do cálculo dos indicadores. Cada um restringe o que pode ser afirmado.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366001"/>
              </p:ext>
            </p:extLst>
          </p:nvPr>
        </p:nvGraphicFramePr>
        <p:xfrm>
          <a:off x="841248" y="1965960"/>
          <a:ext cx="10509198" cy="3474720"/>
        </p:xfrm>
        <a:graphic>
          <a:graphicData uri="http://schemas.openxmlformats.org/drawingml/2006/table">
            <a:tbl>
              <a:tblPr/>
              <a:tblGrid>
                <a:gridCol w="4413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pt-BR" sz="1250" b="1">
                          <a:solidFill>
                            <a:srgbClr val="1A1A1A"/>
                          </a:solidFill>
                          <a:latin typeface="Segoe UI"/>
                        </a:rPr>
                        <a:t>Ponto Identificado</a:t>
                      </a:r>
                      <a:endParaRPr sz="1250" b="1">
                        <a:solidFill>
                          <a:srgbClr val="1A1A1A"/>
                        </a:solidFill>
                        <a:latin typeface="Segoe UI"/>
                      </a:endParaRP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7780" cap="flat" cmpd="sng" algn="ctr">
                      <a:solidFill>
                        <a:srgbClr val="333333"/>
                      </a:solidFill>
                    </a:lnT>
                    <a:lnB w="1143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6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250" b="1" dirty="0" err="1">
                          <a:solidFill>
                            <a:srgbClr val="1A1A1A"/>
                          </a:solidFill>
                          <a:latin typeface="Segoe UI"/>
                        </a:rPr>
                        <a:t>Consequência</a:t>
                      </a:r>
                      <a:r>
                        <a:rPr sz="1250" b="1" dirty="0">
                          <a:solidFill>
                            <a:srgbClr val="1A1A1A"/>
                          </a:solidFill>
                          <a:latin typeface="Segoe UI"/>
                        </a:rPr>
                        <a:t> para </a:t>
                      </a:r>
                      <a:r>
                        <a:rPr sz="1250" b="1" dirty="0" err="1">
                          <a:solidFill>
                            <a:srgbClr val="1A1A1A"/>
                          </a:solidFill>
                          <a:latin typeface="Segoe UI"/>
                        </a:rPr>
                        <a:t>a</a:t>
                      </a:r>
                      <a:r>
                        <a:rPr sz="1250" b="1" dirty="0">
                          <a:solidFill>
                            <a:srgbClr val="1A1A1A"/>
                          </a:solidFill>
                          <a:latin typeface="Segoe UI"/>
                        </a:rPr>
                        <a:t> </a:t>
                      </a:r>
                      <a:r>
                        <a:rPr sz="1250" b="1" dirty="0" err="1">
                          <a:solidFill>
                            <a:srgbClr val="1A1A1A"/>
                          </a:solidFill>
                          <a:latin typeface="Segoe UI"/>
                        </a:rPr>
                        <a:t>análise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7780" cap="flat" cmpd="sng" algn="ctr">
                      <a:solidFill>
                        <a:srgbClr val="333333"/>
                      </a:solidFill>
                    </a:lnT>
                    <a:lnB w="1143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300" dirty="0" err="1">
                          <a:solidFill>
                            <a:srgbClr val="444444"/>
                          </a:solidFill>
                          <a:latin typeface="Consolas"/>
                        </a:rPr>
                        <a:t>DRB.RlcSduDelayDl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= 0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em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11 de 20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amostras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em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baseline e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em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recovery</a:t>
                      </a: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143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Métrica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não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reportada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na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Indication.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Tratada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como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medida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desloca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a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mediana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de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referência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para zero.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143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MAD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igual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a zero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nas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três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métricas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do baseline</a:t>
                      </a: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O </a:t>
                      </a:r>
                      <a:r>
                        <a:rPr sz="1400" b="0" err="1">
                          <a:solidFill>
                            <a:srgbClr val="444444"/>
                          </a:solidFill>
                          <a:latin typeface="Segoe UI"/>
                        </a:rPr>
                        <a:t>piso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de </a:t>
                      </a:r>
                      <a:r>
                        <a:rPr sz="1400" b="0" err="1">
                          <a:solidFill>
                            <a:srgbClr val="444444"/>
                          </a:solidFill>
                          <a:latin typeface="Segoe UI"/>
                        </a:rPr>
                        <a:t>escala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(1,0) </a:t>
                      </a:r>
                      <a:r>
                        <a:rPr sz="1400" b="0" err="1">
                          <a:solidFill>
                            <a:srgbClr val="444444"/>
                          </a:solidFill>
                          <a:latin typeface="Segoe UI"/>
                        </a:rPr>
                        <a:t>substitui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o </a:t>
                      </a:r>
                      <a:r>
                        <a:rPr sz="1400" b="0" err="1">
                          <a:solidFill>
                            <a:srgbClr val="444444"/>
                          </a:solidFill>
                          <a:latin typeface="Segoe UI"/>
                        </a:rPr>
                        <a:t>desvio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err="1">
                          <a:solidFill>
                            <a:srgbClr val="444444"/>
                          </a:solidFill>
                          <a:latin typeface="Segoe UI"/>
                        </a:rPr>
                        <a:t>robusto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; </a:t>
                      </a:r>
                      <a:r>
                        <a:rPr sz="1400" b="0" err="1">
                          <a:solidFill>
                            <a:srgbClr val="444444"/>
                          </a:solidFill>
                          <a:latin typeface="Segoe UI"/>
                        </a:rPr>
                        <a:t>os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lang="pt-BR" sz="1400" b="0">
                          <a:solidFill>
                            <a:srgbClr val="444444"/>
                          </a:solidFill>
                          <a:latin typeface="Segoe UI"/>
                        </a:rPr>
                        <a:t>e</a:t>
                      </a:r>
                      <a:r>
                        <a:rPr lang="pt-BR"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scores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err="1">
                          <a:solidFill>
                            <a:srgbClr val="444444"/>
                          </a:solidFill>
                          <a:latin typeface="Segoe UI"/>
                        </a:rPr>
                        <a:t>ficam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err="1">
                          <a:solidFill>
                            <a:srgbClr val="444444"/>
                          </a:solidFill>
                          <a:latin typeface="Segoe UI"/>
                        </a:rPr>
                        <a:t>na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err="1">
                          <a:solidFill>
                            <a:srgbClr val="444444"/>
                          </a:solidFill>
                          <a:latin typeface="Segoe UI"/>
                        </a:rPr>
                        <a:t>unidade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err="1">
                          <a:solidFill>
                            <a:srgbClr val="444444"/>
                          </a:solidFill>
                          <a:latin typeface="Segoe UI"/>
                        </a:rPr>
                        <a:t>nativa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de </a:t>
                      </a:r>
                      <a:r>
                        <a:rPr sz="1400" b="0" err="1">
                          <a:solidFill>
                            <a:srgbClr val="444444"/>
                          </a:solidFill>
                          <a:latin typeface="Segoe UI"/>
                        </a:rPr>
                        <a:t>cada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err="1">
                          <a:solidFill>
                            <a:srgbClr val="444444"/>
                          </a:solidFill>
                          <a:latin typeface="Segoe UI"/>
                        </a:rPr>
                        <a:t>métrica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Três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valores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distintos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de </a:t>
                      </a:r>
                      <a:r>
                        <a:rPr sz="1300" dirty="0" err="1">
                          <a:solidFill>
                            <a:srgbClr val="444444"/>
                          </a:solidFill>
                          <a:latin typeface="Consolas"/>
                        </a:rPr>
                        <a:t>ingested_at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para 100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amostras</a:t>
                      </a: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Não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há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eixo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de tempo.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ordem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é o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índice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da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amostra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dentro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da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fase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Um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único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UE,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sem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300" dirty="0" err="1">
                          <a:solidFill>
                            <a:srgbClr val="444444"/>
                          </a:solidFill>
                          <a:latin typeface="Consolas"/>
                        </a:rPr>
                        <a:t>ue_id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; 60 % das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amostras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em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stress</a:t>
                      </a: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Sem base para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agregação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de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célula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;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todo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indicador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é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reportado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por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fase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300" dirty="0" err="1">
                          <a:solidFill>
                            <a:srgbClr val="444444"/>
                          </a:solidFill>
                          <a:latin typeface="Consolas"/>
                        </a:rPr>
                        <a:t>DRB.UEThpDl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documentada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na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amostra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, mas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ausente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do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arquivo</a:t>
                      </a: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1778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4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Três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métricas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disponíveis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não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44444"/>
                          </a:solidFill>
                          <a:latin typeface="Segoe UI"/>
                        </a:rPr>
                        <a:t>quatro</a:t>
                      </a:r>
                      <a:r>
                        <a:rPr sz="1400" b="0" dirty="0">
                          <a:solidFill>
                            <a:srgbClr val="444444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1778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6382512"/>
            <a:ext cx="7356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Segoe UI"/>
              </a:defRPr>
            </a:pPr>
            <a:r>
              <a:rPr sz="950" b="0">
                <a:solidFill>
                  <a:srgbClr val="707070"/>
                </a:solidFill>
                <a:latin typeface="Segoe UI"/>
              </a:rPr>
              <a:t>Projeto Integrador · Tema G2 — Anomalia de carga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687" y="6382512"/>
            <a:ext cx="31527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Consolas"/>
              </a:defRPr>
            </a:pPr>
            <a:r>
              <a:rPr sz="950" b="0">
                <a:solidFill>
                  <a:srgbClr val="70707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1A1A1A"/>
                </a:solidFill>
                <a:latin typeface="Segoe UI"/>
              </a:defRPr>
            </a:pPr>
            <a:r>
              <a:rPr sz="2500" b="1">
                <a:solidFill>
                  <a:srgbClr val="1A1A1A"/>
                </a:solidFill>
                <a:latin typeface="Segoe UI"/>
              </a:rPr>
              <a:t>Método de detecção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188720"/>
            <a:ext cx="10509199" cy="0"/>
          </a:xfrm>
          <a:prstGeom prst="line">
            <a:avLst/>
          </a:prstGeom>
          <a:ln w="1143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444752"/>
            <a:ext cx="105091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Baseline robusto por mediana e desvio absoluto mediano (MAD), treinado na fase de referência.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938528"/>
            <a:ext cx="25603" cy="6400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" y="1938528"/>
            <a:ext cx="1028974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  <a:defRPr sz="1500" b="0">
                <a:solidFill>
                  <a:srgbClr val="1A1A1A"/>
                </a:solidFill>
                <a:latin typeface="Consolas"/>
              </a:defRPr>
            </a:pPr>
            <a:r>
              <a:rPr sz="1500" b="0">
                <a:solidFill>
                  <a:srgbClr val="1A1A1A"/>
                </a:solidFill>
                <a:latin typeface="Consolas"/>
              </a:rPr>
              <a:t>escala_f  =  max( MAD_f × 1,4826 ;  1,0 )</a:t>
            </a:r>
          </a:p>
          <a:p>
            <a:pPr algn="l">
              <a:lnSpc>
                <a:spcPct val="132000"/>
              </a:lnSpc>
              <a:spcAft>
                <a:spcPts val="0"/>
              </a:spcAft>
              <a:defRPr sz="1500" b="0">
                <a:solidFill>
                  <a:srgbClr val="1A1A1A"/>
                </a:solidFill>
                <a:latin typeface="Consolas"/>
              </a:defRPr>
            </a:pPr>
            <a:r>
              <a:rPr sz="1500" b="0">
                <a:solidFill>
                  <a:srgbClr val="1A1A1A"/>
                </a:solidFill>
                <a:latin typeface="Consolas"/>
              </a:rPr>
              <a:t>escore_f  =  | x_f − mediana_baseline_f |  /  escala_f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88920"/>
            <a:ext cx="1050919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24000"/>
              </a:lnSpc>
              <a:spcAft>
                <a:spcPts val="10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Métrica anômala quando </a:t>
            </a:r>
            <a:r>
              <a:rPr sz="1395">
                <a:solidFill>
                  <a:srgbClr val="444444"/>
                </a:solidFill>
                <a:latin typeface="Consolas"/>
              </a:rPr>
              <a:t>escore_f ≥ 3,5</a:t>
            </a:r>
            <a:r>
              <a:rPr sz="1500" b="0">
                <a:solidFill>
                  <a:srgbClr val="444444"/>
                </a:solidFill>
                <a:latin typeface="Segoe UI"/>
              </a:rPr>
              <a:t>; amostra anômala quando ao menos </a:t>
            </a:r>
            <a:r>
              <a:rPr sz="1500" b="1">
                <a:solidFill>
                  <a:srgbClr val="1A1A1A"/>
                </a:solidFill>
                <a:latin typeface="Segoe UI"/>
              </a:rPr>
              <a:t>duas das três</a:t>
            </a:r>
            <a:r>
              <a:rPr sz="1500" b="0">
                <a:solidFill>
                  <a:srgbClr val="444444"/>
                </a:solidFill>
                <a:latin typeface="Segoe UI"/>
              </a:rPr>
              <a:t> métricas são anômalas.</a:t>
            </a:r>
          </a:p>
          <a:p>
            <a:pPr marL="219456" indent="-219456" algn="l">
              <a:lnSpc>
                <a:spcPct val="124000"/>
              </a:lnSpc>
              <a:spcAft>
                <a:spcPts val="10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Decisão por janela de 5 amostras, com voto majoritário — é o que distingue regime sustentado de transiente.</a:t>
            </a:r>
          </a:p>
          <a:p>
            <a:pPr marL="219456" indent="-219456" algn="l">
              <a:lnSpc>
                <a:spcPct val="124000"/>
              </a:lnSpc>
              <a:spcAft>
                <a:spcPts val="10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</a:t>
            </a:r>
            <a:r>
              <a:rPr sz="1500" b="1">
                <a:solidFill>
                  <a:srgbClr val="1A1A1A"/>
                </a:solidFill>
                <a:latin typeface="Segoe UI"/>
              </a:rPr>
              <a:t>V1</a:t>
            </a:r>
            <a:r>
              <a:rPr sz="1500" b="0">
                <a:solidFill>
                  <a:srgbClr val="444444"/>
                </a:solidFill>
                <a:latin typeface="Segoe UI"/>
              </a:rPr>
              <a:t>: baseline usado como está, equivalente ao modelo do laboratório. </a:t>
            </a:r>
            <a:r>
              <a:rPr sz="1500" b="1">
                <a:solidFill>
                  <a:srgbClr val="1A1A1A"/>
                </a:solidFill>
                <a:latin typeface="Segoe UI"/>
              </a:rPr>
              <a:t>V2</a:t>
            </a:r>
            <a:r>
              <a:rPr sz="1500" b="0">
                <a:solidFill>
                  <a:srgbClr val="444444"/>
                </a:solidFill>
                <a:latin typeface="Segoe UI"/>
              </a:rPr>
              <a:t>: </a:t>
            </a:r>
            <a:r>
              <a:rPr sz="1395">
                <a:solidFill>
                  <a:srgbClr val="444444"/>
                </a:solidFill>
                <a:latin typeface="Consolas"/>
              </a:rPr>
              <a:t>DRB.RlcSduDelayDl = 0</a:t>
            </a:r>
            <a:r>
              <a:rPr sz="1500" b="0">
                <a:solidFill>
                  <a:srgbClr val="444444"/>
                </a:solidFill>
                <a:latin typeface="Segoe UI"/>
              </a:rPr>
              <a:t> tratado como ausência no treino e na escoragem.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" y="4892040"/>
            <a:ext cx="10509199" cy="0"/>
          </a:xfrm>
          <a:prstGeom prst="line">
            <a:avLst/>
          </a:prstGeom>
          <a:ln w="1143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248" y="5074920"/>
            <a:ext cx="105091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1450" b="0">
                <a:solidFill>
                  <a:srgbClr val="444444"/>
                </a:solidFill>
                <a:latin typeface="Segoe UI"/>
              </a:defRPr>
            </a:pPr>
            <a:r>
              <a:rPr sz="1450" b="1">
                <a:solidFill>
                  <a:srgbClr val="1A1A1A"/>
                </a:solidFill>
                <a:latin typeface="Segoe UI"/>
              </a:rPr>
              <a:t>Verificação.</a:t>
            </a:r>
            <a:r>
              <a:rPr sz="1450" b="0">
                <a:solidFill>
                  <a:srgbClr val="444444"/>
                </a:solidFill>
                <a:latin typeface="Segoe UI"/>
              </a:rPr>
              <a:t> O modelo V1 reproduz mediana e MAD do </a:t>
            </a:r>
            <a:r>
              <a:rPr sz="1348">
                <a:solidFill>
                  <a:srgbClr val="444444"/>
                </a:solidFill>
                <a:latin typeface="Consolas"/>
              </a:rPr>
              <a:t>model.json</a:t>
            </a:r>
            <a:r>
              <a:rPr sz="1450" b="0">
                <a:solidFill>
                  <a:srgbClr val="444444"/>
                </a:solidFill>
                <a:latin typeface="Segoe UI"/>
              </a:rPr>
              <a:t> do laboratório nas três métricas, e os escores 154,88 / 77 212,84 / 97,00 registrados em </a:t>
            </a:r>
            <a:r>
              <a:rPr sz="1348">
                <a:solidFill>
                  <a:srgbClr val="444444"/>
                </a:solidFill>
                <a:latin typeface="Consolas"/>
              </a:rPr>
              <a:t>decision.json</a:t>
            </a:r>
            <a:r>
              <a:rPr sz="1450" b="0">
                <a:solidFill>
                  <a:srgbClr val="444444"/>
                </a:solidFill>
                <a:latin typeface="Segoe UI"/>
              </a:rPr>
              <a:t>. Os notebooks interrompem a execução se a conferência falhar.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382512"/>
            <a:ext cx="7356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Segoe UI"/>
              </a:defRPr>
            </a:pPr>
            <a:r>
              <a:rPr sz="950" b="0">
                <a:solidFill>
                  <a:srgbClr val="707070"/>
                </a:solidFill>
                <a:latin typeface="Segoe UI"/>
              </a:rPr>
              <a:t>Projeto Integrador · Tema G2 — Anomalia de carga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7687" y="6382512"/>
            <a:ext cx="31527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Consolas"/>
              </a:defRPr>
            </a:pPr>
            <a:r>
              <a:rPr sz="950" b="0">
                <a:solidFill>
                  <a:srgbClr val="707070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1A1A1A"/>
                </a:solidFill>
                <a:latin typeface="Segoe UI"/>
              </a:defRPr>
            </a:pPr>
            <a:r>
              <a:rPr sz="2500" b="1">
                <a:solidFill>
                  <a:srgbClr val="1A1A1A"/>
                </a:solidFill>
                <a:latin typeface="Segoe UI"/>
              </a:rPr>
              <a:t>Definição dos indicadores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188720"/>
            <a:ext cx="10509199" cy="0"/>
          </a:xfrm>
          <a:prstGeom prst="line">
            <a:avLst/>
          </a:prstGeom>
          <a:ln w="1143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444752"/>
            <a:ext cx="105091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1700" b="1">
                <a:solidFill>
                  <a:srgbClr val="1A1A1A"/>
                </a:solidFill>
                <a:latin typeface="Segoe UI"/>
              </a:defRPr>
            </a:pPr>
            <a:r>
              <a:rPr sz="1700" b="1">
                <a:solidFill>
                  <a:srgbClr val="1A1A1A"/>
                </a:solidFill>
                <a:latin typeface="Segoe UI"/>
              </a:rPr>
              <a:t>TAA — taxa de amostras anômalas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874519"/>
            <a:ext cx="25603" cy="36576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" y="1874519"/>
            <a:ext cx="102897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  <a:defRPr sz="1450" b="0">
                <a:solidFill>
                  <a:srgbClr val="1A1A1A"/>
                </a:solidFill>
                <a:latin typeface="Consolas"/>
              </a:defRPr>
            </a:pPr>
            <a:r>
              <a:rPr sz="1450" b="0">
                <a:solidFill>
                  <a:srgbClr val="1A1A1A"/>
                </a:solidFill>
                <a:latin typeface="Consolas"/>
              </a:rPr>
              <a:t>TAA(fase)  =  100 × amostras anômalas / amostras da fase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77440"/>
            <a:ext cx="105091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1400" b="0">
                <a:solidFill>
                  <a:srgbClr val="707070"/>
                </a:solidFill>
                <a:latin typeface="Segoe UI"/>
              </a:defRPr>
            </a:pPr>
            <a:r>
              <a:rPr sz="1400" b="0">
                <a:solidFill>
                  <a:srgbClr val="707070"/>
                </a:solidFill>
                <a:latin typeface="Segoe UI"/>
              </a:rPr>
              <a:t>Unidade: % de amostras.   Granularidade: por fase, dentro de uma execução.   Fonte: </a:t>
            </a:r>
            <a:r>
              <a:rPr sz="1302">
                <a:solidFill>
                  <a:srgbClr val="707070"/>
                </a:solidFill>
                <a:latin typeface="Consolas"/>
              </a:rPr>
              <a:t>kpm_samples</a:t>
            </a:r>
            <a:r>
              <a:rPr sz="1400" b="0">
                <a:solidFill>
                  <a:srgbClr val="707070"/>
                </a:solidFill>
                <a:latin typeface="Segoe UI"/>
              </a:rPr>
              <a:t>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" y="2944368"/>
            <a:ext cx="10509199" cy="0"/>
          </a:xfrm>
          <a:prstGeom prst="line">
            <a:avLst/>
          </a:prstGeom>
          <a:ln w="1143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248" y="3154680"/>
            <a:ext cx="105091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1700" b="1">
                <a:solidFill>
                  <a:srgbClr val="1A1A1A"/>
                </a:solidFill>
                <a:latin typeface="Segoe UI"/>
              </a:defRPr>
            </a:pPr>
            <a:r>
              <a:rPr sz="1700" b="1">
                <a:solidFill>
                  <a:srgbClr val="1A1A1A"/>
                </a:solidFill>
                <a:latin typeface="Segoe UI"/>
              </a:rPr>
              <a:t>ISC — índice de severidade de carga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611880"/>
            <a:ext cx="25603" cy="36576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3611880"/>
            <a:ext cx="102897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  <a:defRPr sz="1450" b="0">
                <a:solidFill>
                  <a:srgbClr val="1A1A1A"/>
                </a:solidFill>
                <a:latin typeface="Consolas"/>
              </a:defRPr>
            </a:pPr>
            <a:r>
              <a:rPr sz="1450" b="0">
                <a:solidFill>
                  <a:srgbClr val="1A1A1A"/>
                </a:solidFill>
                <a:latin typeface="Consolas"/>
              </a:rPr>
              <a:t>ISC(amostra)  =  média_f [ min( escore_f / 3,5 ;  10 )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114800"/>
            <a:ext cx="105091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1400" b="0">
                <a:solidFill>
                  <a:srgbClr val="707070"/>
                </a:solidFill>
                <a:latin typeface="Segoe UI"/>
              </a:defRPr>
            </a:pPr>
            <a:r>
              <a:rPr sz="1400" b="0">
                <a:solidFill>
                  <a:srgbClr val="707070"/>
                </a:solidFill>
                <a:latin typeface="Segoe UI"/>
              </a:rPr>
              <a:t>Unidade: adimensional, em múltiplos do limiar (1,0 = exatamente no limiar).   Granularidade: por amostra, agregado por fase.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754880"/>
            <a:ext cx="1050919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1">
                <a:solidFill>
                  <a:srgbClr val="1A1A1A"/>
                </a:solidFill>
                <a:latin typeface="Segoe UI"/>
              </a:rPr>
              <a:t>Saturação em 10.</a:t>
            </a:r>
            <a:r>
              <a:rPr sz="1500" b="0">
                <a:solidFill>
                  <a:srgbClr val="444444"/>
                </a:solidFill>
                <a:latin typeface="Segoe UI"/>
              </a:rPr>
              <a:t> Sem o limite, o escore de </a:t>
            </a:r>
            <a:r>
              <a:rPr sz="1395">
                <a:solidFill>
                  <a:srgbClr val="444444"/>
                </a:solidFill>
                <a:latin typeface="Consolas"/>
              </a:rPr>
              <a:t>DRB.UEThpUl</a:t>
            </a:r>
            <a:r>
              <a:rPr sz="1500" b="0">
                <a:solidFill>
                  <a:srgbClr val="444444"/>
                </a:solidFill>
                <a:latin typeface="Segoe UI"/>
              </a:rPr>
              <a:t> atinge 77 213 e domina a média, porque a escala do baseline degenerou para 1,0 kbps. O índice deixaria de ser adimensional e passaria a medir vazão em kbps.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382512"/>
            <a:ext cx="7356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Segoe UI"/>
              </a:defRPr>
            </a:pPr>
            <a:r>
              <a:rPr sz="950" b="0">
                <a:solidFill>
                  <a:srgbClr val="707070"/>
                </a:solidFill>
                <a:latin typeface="Segoe UI"/>
              </a:rPr>
              <a:t>Projeto Integrador · Tema G2 — Anomalia de carga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7687" y="6382512"/>
            <a:ext cx="31527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Consolas"/>
              </a:defRPr>
            </a:pPr>
            <a:r>
              <a:rPr sz="950" b="0">
                <a:solidFill>
                  <a:srgbClr val="707070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1A1A1A"/>
                </a:solidFill>
                <a:latin typeface="Segoe UI"/>
              </a:defRPr>
            </a:pPr>
            <a:r>
              <a:rPr sz="2500" b="1">
                <a:solidFill>
                  <a:srgbClr val="1A1A1A"/>
                </a:solidFill>
                <a:latin typeface="Segoe UI"/>
              </a:rPr>
              <a:t>Resultados por fase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188720"/>
            <a:ext cx="10509199" cy="0"/>
          </a:xfrm>
          <a:prstGeom prst="line">
            <a:avLst/>
          </a:prstGeom>
          <a:ln w="1143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444752"/>
          <a:ext cx="10509194" cy="1737360"/>
        </p:xfrm>
        <a:graphic>
          <a:graphicData uri="http://schemas.openxmlformats.org/drawingml/2006/table">
            <a:tbl>
              <a:tblPr/>
              <a:tblGrid>
                <a:gridCol w="2312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6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6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Segoe UI"/>
                        </a:rPr>
                        <a:t>Fase</a:t>
                      </a: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7780" cap="flat" cmpd="sng" algn="ctr">
                      <a:solidFill>
                        <a:srgbClr val="333333"/>
                      </a:solidFill>
                    </a:lnT>
                    <a:lnB w="1143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7780" cap="flat" cmpd="sng" algn="ctr">
                      <a:solidFill>
                        <a:srgbClr val="333333"/>
                      </a:solidFill>
                    </a:lnT>
                    <a:lnB w="1143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Segoe UI"/>
                        </a:rPr>
                        <a:t>TAA · V1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7780" cap="flat" cmpd="sng" algn="ctr">
                      <a:solidFill>
                        <a:srgbClr val="333333"/>
                      </a:solidFill>
                    </a:lnT>
                    <a:lnB w="1143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Segoe UI"/>
                        </a:rPr>
                        <a:t>TAA · V2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7780" cap="flat" cmpd="sng" algn="ctr">
                      <a:solidFill>
                        <a:srgbClr val="333333"/>
                      </a:solidFill>
                    </a:lnT>
                    <a:lnB w="1143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Segoe UI"/>
                        </a:rPr>
                        <a:t>ISC médio · V1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7780" cap="flat" cmpd="sng" algn="ctr">
                      <a:solidFill>
                        <a:srgbClr val="333333"/>
                      </a:solidFill>
                    </a:lnT>
                    <a:lnB w="1143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Segoe UI"/>
                        </a:rPr>
                        <a:t>ISC médio · V2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7780" cap="flat" cmpd="sng" algn="ctr">
                      <a:solidFill>
                        <a:srgbClr val="333333"/>
                      </a:solidFill>
                    </a:lnT>
                    <a:lnB w="1143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5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500" b="0">
                          <a:solidFill>
                            <a:srgbClr val="444444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143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444444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143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444444"/>
                          </a:solidFill>
                          <a:latin typeface="Consolas"/>
                        </a:rPr>
                        <a:t>0,0 %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143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1F4E79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1F4E79"/>
                          </a:solidFill>
                          <a:latin typeface="Consolas"/>
                        </a:rPr>
                        <a:t>0,0 %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143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444444"/>
                          </a:solidFill>
                          <a:latin typeface="Consolas"/>
                        </a:rPr>
                        <a:t>1,51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143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1F4E79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1F4E79"/>
                          </a:solidFill>
                          <a:latin typeface="Consolas"/>
                        </a:rPr>
                        <a:t>0,04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143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5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500" b="0">
                          <a:solidFill>
                            <a:srgbClr val="444444"/>
                          </a:solidFill>
                          <a:latin typeface="Segoe UI"/>
                        </a:rPr>
                        <a:t>stress</a:t>
                      </a: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444444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444444"/>
                          </a:solidFill>
                          <a:latin typeface="Consolas"/>
                        </a:rPr>
                        <a:t>100,0 %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1F4E79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1F4E79"/>
                          </a:solidFill>
                          <a:latin typeface="Consolas"/>
                        </a:rPr>
                        <a:t>98,3 %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444444"/>
                          </a:solidFill>
                          <a:latin typeface="Consolas"/>
                        </a:rPr>
                        <a:t>9,91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1F4E79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1F4E79"/>
                          </a:solidFill>
                          <a:latin typeface="Consolas"/>
                        </a:rPr>
                        <a:t>6,61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defRPr sz="1500" b="0">
                          <a:solidFill>
                            <a:srgbClr val="444444"/>
                          </a:solidFill>
                          <a:latin typeface="Segoe UI"/>
                        </a:defRPr>
                      </a:pPr>
                      <a:r>
                        <a:rPr sz="1500" b="0">
                          <a:solidFill>
                            <a:srgbClr val="444444"/>
                          </a:solidFill>
                          <a:latin typeface="Segoe UI"/>
                        </a:rPr>
                        <a:t>recovery</a:t>
                      </a:r>
                    </a:p>
                  </a:txBody>
                  <a:tcPr marL="0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1778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444444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1778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444444"/>
                          </a:solidFill>
                          <a:latin typeface="Consolas"/>
                        </a:rPr>
                        <a:t>5,0 %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1778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1F4E79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1F4E79"/>
                          </a:solidFill>
                          <a:latin typeface="Consolas"/>
                        </a:rPr>
                        <a:t>5,0 %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1778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444444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444444"/>
                          </a:solidFill>
                          <a:latin typeface="Consolas"/>
                        </a:rPr>
                        <a:t>1,76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1778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defRPr sz="1500" b="0">
                          <a:solidFill>
                            <a:srgbClr val="1F4E79"/>
                          </a:solidFill>
                          <a:latin typeface="Consolas"/>
                        </a:defRPr>
                      </a:pPr>
                      <a:r>
                        <a:rPr sz="1500" b="0">
                          <a:solidFill>
                            <a:srgbClr val="1F4E79"/>
                          </a:solidFill>
                          <a:latin typeface="Consolas"/>
                        </a:rPr>
                        <a:t>0,33</a:t>
                      </a:r>
                    </a:p>
                  </a:txBody>
                  <a:tcPr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17780" cap="flat" cmpd="sng" algn="ctr">
                      <a:solidFill>
                        <a:srgbClr val="3333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3383280"/>
            <a:ext cx="1050919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24000"/>
              </a:lnSpc>
              <a:spcAft>
                <a:spcPts val="11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A separação entre fases é inequívoca: 0 % contra 98,3 % de amostras anômalas, e ISC médio de 0,04 contra 6,61.</a:t>
            </a:r>
          </a:p>
          <a:p>
            <a:pPr marL="219456" indent="-219456" algn="l">
              <a:lnSpc>
                <a:spcPct val="124000"/>
              </a:lnSpc>
              <a:spcAft>
                <a:spcPts val="11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A exigência de concordância entre duas métricas é o que suprime o falso alarme. Com uma única métrica, a TAA de baseline passaria de 0 % para </a:t>
            </a:r>
            <a:r>
              <a:rPr sz="1500" b="1">
                <a:solidFill>
                  <a:srgbClr val="1A1A1A"/>
                </a:solidFill>
                <a:latin typeface="Segoe UI"/>
              </a:rPr>
              <a:t>45 %</a:t>
            </a:r>
            <a:r>
              <a:rPr sz="1500" b="0">
                <a:solidFill>
                  <a:srgbClr val="444444"/>
                </a:solidFill>
                <a:latin typeface="Segoe UI"/>
              </a:rPr>
              <a:t>.</a:t>
            </a:r>
          </a:p>
          <a:p>
            <a:pPr marL="219456" indent="-219456" algn="l">
              <a:lnSpc>
                <a:spcPct val="124000"/>
              </a:lnSpc>
              <a:spcAft>
                <a:spcPts val="11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A correção de qualidade (V2) eleva a mediana de atraso do baseline de 0 para 137 µs e a escala de 1,0 para 69,68, eliminando 9 flags isolados por fase calma.</a:t>
            </a:r>
          </a:p>
          <a:p>
            <a:pPr marL="219456" indent="-219456" algn="l">
              <a:lnSpc>
                <a:spcPct val="124000"/>
              </a:lnSpc>
              <a:spcAft>
                <a:spcPts val="11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A separação não depende da correção. O que a correção altera é o ruído abaixo do limiar de decisão.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56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Segoe UI"/>
              </a:defRPr>
            </a:pPr>
            <a:r>
              <a:rPr sz="950" b="0">
                <a:solidFill>
                  <a:srgbClr val="707070"/>
                </a:solidFill>
                <a:latin typeface="Segoe UI"/>
              </a:rPr>
              <a:t>Projeto Integrador · Tema G2 — Anomalia de carga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687" y="6382512"/>
            <a:ext cx="31527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Consolas"/>
              </a:defRPr>
            </a:pPr>
            <a:r>
              <a:rPr sz="950" b="0">
                <a:solidFill>
                  <a:srgbClr val="707070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1A1A1A"/>
                </a:solidFill>
                <a:latin typeface="Segoe UI"/>
              </a:defRPr>
            </a:pPr>
            <a:r>
              <a:rPr sz="2500" b="1">
                <a:solidFill>
                  <a:srgbClr val="1A1A1A"/>
                </a:solidFill>
                <a:latin typeface="Segoe UI"/>
              </a:rPr>
              <a:t>Severidade ao longo do experimento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188720"/>
            <a:ext cx="10509199" cy="0"/>
          </a:xfrm>
          <a:prstGeom prst="line">
            <a:avLst/>
          </a:prstGeom>
          <a:ln w="1143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1_serie_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544" y="1481328"/>
            <a:ext cx="9600605" cy="40233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650992"/>
            <a:ext cx="105091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59 das 60 amostras de stress permanecem acima do limiar, em sequência contínua. O desvio é um regime, não um transiente.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56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Segoe UI"/>
              </a:defRPr>
            </a:pPr>
            <a:r>
              <a:rPr sz="950" b="0">
                <a:solidFill>
                  <a:srgbClr val="707070"/>
                </a:solidFill>
                <a:latin typeface="Segoe UI"/>
              </a:rPr>
              <a:t>Projeto Integrador · Tema G2 — Anomalia de carga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687" y="6382512"/>
            <a:ext cx="31527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Consolas"/>
              </a:defRPr>
            </a:pPr>
            <a:r>
              <a:rPr sz="950" b="0">
                <a:solidFill>
                  <a:srgbClr val="707070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1A1A1A"/>
                </a:solidFill>
                <a:latin typeface="Segoe UI"/>
              </a:defRPr>
            </a:pPr>
            <a:r>
              <a:rPr sz="2500" b="1">
                <a:solidFill>
                  <a:srgbClr val="1A1A1A"/>
                </a:solidFill>
                <a:latin typeface="Segoe UI"/>
              </a:rPr>
              <a:t>Efeito da correção de qualidade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188720"/>
            <a:ext cx="10509199" cy="0"/>
          </a:xfrm>
          <a:prstGeom prst="line">
            <a:avLst/>
          </a:prstGeom>
          <a:ln w="1143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2_efeito_q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04283"/>
            <a:ext cx="10509199" cy="37774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650992"/>
            <a:ext cx="105091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Esquerda: taxa de amostras anômalas por fase. Direita: flags isolados de atraso nas fases calmas, onde a correção 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56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Segoe UI"/>
              </a:defRPr>
            </a:pPr>
            <a:r>
              <a:rPr sz="950" b="0">
                <a:solidFill>
                  <a:srgbClr val="707070"/>
                </a:solidFill>
                <a:latin typeface="Segoe UI"/>
              </a:rPr>
              <a:t>Projeto Integrador · Tema G2 — Anomalia de carga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687" y="6382512"/>
            <a:ext cx="31527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Consolas"/>
              </a:defRPr>
            </a:pPr>
            <a:r>
              <a:rPr sz="950" b="0">
                <a:solidFill>
                  <a:srgbClr val="707070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1A1A1A"/>
                </a:solidFill>
                <a:latin typeface="Segoe UI"/>
              </a:defRPr>
            </a:pPr>
            <a:r>
              <a:rPr sz="2500" b="1">
                <a:solidFill>
                  <a:srgbClr val="1A1A1A"/>
                </a:solidFill>
                <a:latin typeface="Segoe UI"/>
              </a:rPr>
              <a:t>Erros do detector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188720"/>
            <a:ext cx="10509199" cy="0"/>
          </a:xfrm>
          <a:prstGeom prst="line">
            <a:avLst/>
          </a:prstGeom>
          <a:ln w="1143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444752"/>
            <a:ext cx="1050919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24000"/>
              </a:lnSpc>
              <a:spcAft>
                <a:spcPts val="900"/>
              </a:spcAft>
              <a:defRPr sz="1450" b="0">
                <a:solidFill>
                  <a:srgbClr val="444444"/>
                </a:solidFill>
                <a:latin typeface="Segoe UI"/>
              </a:defRPr>
            </a:pPr>
            <a:r>
              <a:rPr sz="1450" b="0">
                <a:solidFill>
                  <a:srgbClr val="444444"/>
                </a:solidFill>
                <a:latin typeface="Segoe UI"/>
              </a:rPr>
              <a:t>—  </a:t>
            </a:r>
            <a:r>
              <a:rPr sz="1450" b="1">
                <a:solidFill>
                  <a:srgbClr val="1A1A1A"/>
                </a:solidFill>
                <a:latin typeface="Segoe UI"/>
              </a:rPr>
              <a:t>Falso negativo</a:t>
            </a:r>
            <a:r>
              <a:rPr sz="1450" b="0">
                <a:solidFill>
                  <a:srgbClr val="444444"/>
                </a:solidFill>
                <a:latin typeface="Segoe UI"/>
              </a:rPr>
              <a:t> — 1 amostra em 60 de stress: vazão 15,16 kbps e PRB 2 %. É a amostra inicial da fase, antes de a carga se estabelecer.</a:t>
            </a:r>
          </a:p>
          <a:p>
            <a:pPr marL="219456" indent="-219456" algn="l">
              <a:lnSpc>
                <a:spcPct val="124000"/>
              </a:lnSpc>
              <a:spcAft>
                <a:spcPts val="900"/>
              </a:spcAft>
              <a:defRPr sz="1450" b="0">
                <a:solidFill>
                  <a:srgbClr val="444444"/>
                </a:solidFill>
                <a:latin typeface="Segoe UI"/>
              </a:defRPr>
            </a:pPr>
            <a:r>
              <a:rPr sz="1450" b="0">
                <a:solidFill>
                  <a:srgbClr val="444444"/>
                </a:solidFill>
                <a:latin typeface="Segoe UI"/>
              </a:rPr>
              <a:t>—  </a:t>
            </a:r>
            <a:r>
              <a:rPr sz="1450" b="1">
                <a:solidFill>
                  <a:srgbClr val="1A1A1A"/>
                </a:solidFill>
                <a:latin typeface="Segoe UI"/>
              </a:rPr>
              <a:t>Falso alarme</a:t>
            </a:r>
            <a:r>
              <a:rPr sz="1450" b="0">
                <a:solidFill>
                  <a:srgbClr val="444444"/>
                </a:solidFill>
                <a:latin typeface="Segoe UI"/>
              </a:rPr>
              <a:t> — 1 amostra em 20 de recovery: pico de 172 Mbps, drenagem residual do </a:t>
            </a:r>
            <a:r>
              <a:rPr sz="1348">
                <a:solidFill>
                  <a:srgbClr val="444444"/>
                </a:solidFill>
                <a:latin typeface="Consolas"/>
              </a:rPr>
              <a:t>iperf</a:t>
            </a:r>
            <a:r>
              <a:rPr sz="1450" b="0">
                <a:solidFill>
                  <a:srgbClr val="444444"/>
                </a:solidFill>
                <a:latin typeface="Segoe UI"/>
              </a:rPr>
              <a:t> após o encerramento do teste.</a:t>
            </a:r>
          </a:p>
          <a:p>
            <a:pPr marL="219456" indent="-219456" algn="l">
              <a:lnSpc>
                <a:spcPct val="124000"/>
              </a:lnSpc>
              <a:spcAft>
                <a:spcPts val="900"/>
              </a:spcAft>
              <a:defRPr sz="1450" b="0">
                <a:solidFill>
                  <a:srgbClr val="444444"/>
                </a:solidFill>
                <a:latin typeface="Segoe UI"/>
              </a:defRPr>
            </a:pPr>
            <a:r>
              <a:rPr sz="1450" b="0">
                <a:solidFill>
                  <a:srgbClr val="444444"/>
                </a:solidFill>
                <a:latin typeface="Segoe UI"/>
              </a:rPr>
              <a:t>—  Nenhum dos dois altera a decisão: a janela exige maioria em 5 amostras consecutivas.</a:t>
            </a:r>
          </a:p>
          <a:p>
            <a:pPr marL="219456" indent="-219456" algn="l">
              <a:lnSpc>
                <a:spcPct val="124000"/>
              </a:lnSpc>
              <a:spcAft>
                <a:spcPts val="900"/>
              </a:spcAft>
              <a:defRPr sz="1450" b="0">
                <a:solidFill>
                  <a:srgbClr val="444444"/>
                </a:solidFill>
                <a:latin typeface="Segoe UI"/>
              </a:defRPr>
            </a:pPr>
            <a:r>
              <a:rPr sz="1450" b="0">
                <a:solidFill>
                  <a:srgbClr val="444444"/>
                </a:solidFill>
                <a:latin typeface="Segoe UI"/>
              </a:rPr>
              <a:t>—  Em V2 o atraso deixa de discriminar também em stress; a separação passa a depender de PRB e vazão, que disparam em conjunto.</a:t>
            </a:r>
          </a:p>
        </p:txBody>
      </p:sp>
      <p:pic>
        <p:nvPicPr>
          <p:cNvPr id="6" name="Picture 5" descr="f3_matriz_fl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664" y="3886200"/>
            <a:ext cx="6348366" cy="1691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687568"/>
            <a:ext cx="105091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1300" b="0">
                <a:solidFill>
                  <a:srgbClr val="707070"/>
                </a:solidFill>
                <a:latin typeface="Segoe UI"/>
              </a:defRPr>
            </a:pPr>
            <a:r>
              <a:rPr sz="1300" b="0">
                <a:solidFill>
                  <a:srgbClr val="707070"/>
                </a:solidFill>
                <a:latin typeface="Segoe UI"/>
              </a:rPr>
              <a:t>Métricas sinalizadas como anômalas, amostra a amostra (variante V2).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382512"/>
            <a:ext cx="7356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Segoe UI"/>
              </a:defRPr>
            </a:pPr>
            <a:r>
              <a:rPr sz="950" b="0">
                <a:solidFill>
                  <a:srgbClr val="707070"/>
                </a:solidFill>
                <a:latin typeface="Segoe UI"/>
              </a:rPr>
              <a:t>Projeto Integrador · Tema G2 — Anomalia de carga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7687" y="6382512"/>
            <a:ext cx="31527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Consolas"/>
              </a:defRPr>
            </a:pPr>
            <a:r>
              <a:rPr sz="950" b="0">
                <a:solidFill>
                  <a:srgbClr val="707070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1A1A1A"/>
                </a:solidFill>
                <a:latin typeface="Segoe UI"/>
              </a:defRPr>
            </a:pPr>
            <a:r>
              <a:rPr sz="2500" b="1">
                <a:solidFill>
                  <a:srgbClr val="1A1A1A"/>
                </a:solidFill>
                <a:latin typeface="Segoe UI"/>
              </a:rPr>
              <a:t>Decisão e política A1 em execução simulada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188720"/>
            <a:ext cx="10509199" cy="0"/>
          </a:xfrm>
          <a:prstGeom prst="line">
            <a:avLst/>
          </a:prstGeom>
          <a:ln w="1143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444752"/>
            <a:ext cx="105091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24000"/>
              </a:lnSpc>
              <a:spcAft>
                <a:spcPts val="12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</a:t>
            </a:r>
            <a:r>
              <a:rPr sz="1500" b="1">
                <a:solidFill>
                  <a:srgbClr val="1A1A1A"/>
                </a:solidFill>
                <a:latin typeface="Segoe UI"/>
              </a:rPr>
              <a:t>Gatilho:</a:t>
            </a:r>
            <a:r>
              <a:rPr sz="1500" b="0">
                <a:solidFill>
                  <a:srgbClr val="444444"/>
                </a:solidFill>
                <a:latin typeface="Segoe UI"/>
              </a:rPr>
              <a:t> maioria das 5 amostras mais recentes classificada como anômala, com </a:t>
            </a:r>
            <a:r>
              <a:rPr sz="1395">
                <a:solidFill>
                  <a:srgbClr val="444444"/>
                </a:solidFill>
                <a:latin typeface="Consolas"/>
              </a:rPr>
              <a:t>RRU.PrbTotUl</a:t>
            </a:r>
            <a:r>
              <a:rPr sz="1500" b="0">
                <a:solidFill>
                  <a:srgbClr val="444444"/>
                </a:solidFill>
                <a:latin typeface="Segoe UI"/>
              </a:rPr>
              <a:t> entre as métricas em concordância.</a:t>
            </a:r>
          </a:p>
          <a:p>
            <a:pPr marL="219456" indent="-219456" algn="l">
              <a:lnSpc>
                <a:spcPct val="124000"/>
              </a:lnSpc>
              <a:spcAft>
                <a:spcPts val="12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</a:t>
            </a:r>
            <a:r>
              <a:rPr sz="1500" b="1">
                <a:solidFill>
                  <a:srgbClr val="1A1A1A"/>
                </a:solidFill>
                <a:latin typeface="Segoe UI"/>
              </a:rPr>
              <a:t>Política candidata:</a:t>
            </a:r>
            <a:r>
              <a:rPr sz="1500" b="0">
                <a:solidFill>
                  <a:srgbClr val="444444"/>
                </a:solidFill>
                <a:latin typeface="Segoe UI"/>
              </a:rPr>
              <a:t> </a:t>
            </a:r>
            <a:r>
              <a:rPr sz="1395">
                <a:solidFill>
                  <a:srgbClr val="444444"/>
                </a:solidFill>
                <a:latin typeface="Consolas"/>
              </a:rPr>
              <a:t>policytype_id</a:t>
            </a:r>
            <a:r>
              <a:rPr sz="1500" b="0">
                <a:solidFill>
                  <a:srgbClr val="444444"/>
                </a:solidFill>
                <a:latin typeface="Segoe UI"/>
              </a:rPr>
              <a:t> 1, escopo </a:t>
            </a:r>
            <a:r>
              <a:rPr sz="1395">
                <a:solidFill>
                  <a:srgbClr val="444444"/>
                </a:solidFill>
                <a:latin typeface="Consolas"/>
              </a:rPr>
              <a:t>{ueId: ue-any, qosId: qos-lab}</a:t>
            </a:r>
            <a:r>
              <a:rPr sz="1500" b="0">
                <a:solidFill>
                  <a:srgbClr val="444444"/>
                </a:solidFill>
                <a:latin typeface="Segoe UI"/>
              </a:rPr>
              <a:t>, </a:t>
            </a:r>
            <a:r>
              <a:rPr sz="1395">
                <a:solidFill>
                  <a:srgbClr val="444444"/>
                </a:solidFill>
                <a:latin typeface="Consolas"/>
              </a:rPr>
              <a:t>priorityLevel</a:t>
            </a:r>
            <a:r>
              <a:rPr sz="1500" b="0">
                <a:solidFill>
                  <a:srgbClr val="444444"/>
                </a:solidFill>
                <a:latin typeface="Segoe UI"/>
              </a:rPr>
              <a:t> 10. Sujeita a validação humana antes de qualquer aplicação.</a:t>
            </a:r>
          </a:p>
          <a:p>
            <a:pPr marL="219456" indent="-219456" algn="l">
              <a:lnSpc>
                <a:spcPct val="124000"/>
              </a:lnSpc>
              <a:spcAft>
                <a:spcPts val="12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</a:t>
            </a:r>
            <a:r>
              <a:rPr sz="1500" b="1">
                <a:solidFill>
                  <a:srgbClr val="1A1A1A"/>
                </a:solidFill>
                <a:latin typeface="Segoe UI"/>
              </a:rPr>
              <a:t>Comportamento sobre as 100 amostras:</a:t>
            </a:r>
            <a:r>
              <a:rPr sz="1500" b="0">
                <a:solidFill>
                  <a:srgbClr val="444444"/>
                </a:solidFill>
                <a:latin typeface="Segoe UI"/>
              </a:rPr>
              <a:t> um único acionamento, no início da fase de stress; nenhum nas fases de referência e de recuperação.</a:t>
            </a:r>
          </a:p>
          <a:p>
            <a:pPr marL="219456" indent="-219456" algn="l">
              <a:lnSpc>
                <a:spcPct val="124000"/>
              </a:lnSpc>
              <a:spcAft>
                <a:spcPts val="12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</a:t>
            </a:r>
            <a:r>
              <a:rPr sz="1500" b="1">
                <a:solidFill>
                  <a:srgbClr val="1A1A1A"/>
                </a:solidFill>
                <a:latin typeface="Segoe UI"/>
              </a:rPr>
              <a:t>Artefato:</a:t>
            </a:r>
            <a:r>
              <a:rPr sz="1500" b="0">
                <a:solidFill>
                  <a:srgbClr val="444444"/>
                </a:solidFill>
                <a:latin typeface="Segoe UI"/>
              </a:rPr>
              <a:t> </a:t>
            </a:r>
            <a:r>
              <a:rPr sz="1395">
                <a:solidFill>
                  <a:srgbClr val="444444"/>
                </a:solidFill>
                <a:latin typeface="Consolas"/>
              </a:rPr>
              <a:t>derived/decision_g1.json</a:t>
            </a:r>
            <a:r>
              <a:rPr sz="1500" b="0">
                <a:solidFill>
                  <a:srgbClr val="444444"/>
                </a:solidFill>
                <a:latin typeface="Segoe UI"/>
              </a:rPr>
              <a:t>, no mesmo formato do artefato do laboratório.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4526280"/>
            <a:ext cx="10509199" cy="0"/>
          </a:xfrm>
          <a:prstGeom prst="line">
            <a:avLst/>
          </a:prstGeom>
          <a:ln w="152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4754880"/>
            <a:ext cx="10509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  <a:defRPr sz="1200" b="1">
                <a:solidFill>
                  <a:srgbClr val="1F4E79"/>
                </a:solidFill>
                <a:latin typeface="Segoe UI"/>
              </a:defRPr>
            </a:pPr>
            <a:r>
              <a:rPr sz="1200" b="1">
                <a:solidFill>
                  <a:srgbClr val="1F4E79"/>
                </a:solidFill>
                <a:latin typeface="Segoe UI"/>
              </a:rPr>
              <a:t>Execução simulada</a:t>
            </a:r>
          </a:p>
          <a:p>
            <a:pPr algn="l">
              <a:lnSpc>
                <a:spcPct val="124000"/>
              </a:lnSpc>
              <a:spcAft>
                <a:spcPts val="0"/>
              </a:spcAft>
              <a:defRPr sz="1600" b="0">
                <a:solidFill>
                  <a:srgbClr val="1A1A1A"/>
                </a:solidFill>
                <a:latin typeface="Segoe UI"/>
              </a:defRPr>
            </a:pPr>
            <a:r>
              <a:rPr sz="1600" b="0">
                <a:solidFill>
                  <a:srgbClr val="1A1A1A"/>
                </a:solidFill>
                <a:latin typeface="Segoe UI"/>
              </a:rPr>
              <a:t>A política é gerada e registrada como artefato candidato. Nenhuma requisição foi enviada ao Near-RT RIC e nenhum efeito físico na RAN é alegado.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382512"/>
            <a:ext cx="7356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Segoe UI"/>
              </a:defRPr>
            </a:pPr>
            <a:r>
              <a:rPr sz="950" b="0">
                <a:solidFill>
                  <a:srgbClr val="707070"/>
                </a:solidFill>
                <a:latin typeface="Segoe UI"/>
              </a:rPr>
              <a:t>Projeto Integrador · Tema G2 — Anomalia de carga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7687" y="6382512"/>
            <a:ext cx="31527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Consolas"/>
              </a:defRPr>
            </a:pPr>
            <a:r>
              <a:rPr sz="950" b="0">
                <a:solidFill>
                  <a:srgbClr val="707070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1A1A1A"/>
                </a:solidFill>
                <a:latin typeface="Segoe UI"/>
              </a:defRPr>
            </a:pPr>
            <a:r>
              <a:rPr sz="2500" b="1">
                <a:solidFill>
                  <a:srgbClr val="1A1A1A"/>
                </a:solidFill>
                <a:latin typeface="Segoe UI"/>
              </a:rPr>
              <a:t>Limitações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188720"/>
            <a:ext cx="10509199" cy="0"/>
          </a:xfrm>
          <a:prstGeom prst="line">
            <a:avLst/>
          </a:prstGeom>
          <a:ln w="1143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444752"/>
            <a:ext cx="10509199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24000"/>
              </a:lnSpc>
              <a:spcAft>
                <a:spcPts val="11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Telemetria de simulação de rádio (RFSIM), sem propagação, interferência ou mobilidade reais. Os valores absolutos não transferem para uma célula comercial.</a:t>
            </a:r>
          </a:p>
          <a:p>
            <a:pPr marL="219456" indent="-219456" algn="l">
              <a:lnSpc>
                <a:spcPct val="124000"/>
              </a:lnSpc>
              <a:spcAft>
                <a:spcPts val="11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100 amostras, uma execução, um único UE, com 60 % das amostras em stress. O conjunto demonstra o método; não caracteriza o comportamento de uma rede.</a:t>
            </a:r>
          </a:p>
          <a:p>
            <a:pPr marL="219456" indent="-219456" algn="l">
              <a:lnSpc>
                <a:spcPct val="124000"/>
              </a:lnSpc>
              <a:spcAft>
                <a:spcPts val="11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Sem eixo de tempo por amostra: a duração de uma anomalia é medida em amostras consecutivas, não em segundos.</a:t>
            </a:r>
          </a:p>
          <a:p>
            <a:pPr marL="219456" indent="-219456" algn="l">
              <a:lnSpc>
                <a:spcPct val="124000"/>
              </a:lnSpc>
              <a:spcAft>
                <a:spcPts val="11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Baseline com MAD nulo: a escala é determinada pelo piso, não pelos dados. É a razão de o índice de severidade precisar de saturação.</a:t>
            </a:r>
          </a:p>
          <a:p>
            <a:pPr marL="219456" indent="-219456" algn="l">
              <a:lnSpc>
                <a:spcPct val="124000"/>
              </a:lnSpc>
              <a:spcAft>
                <a:spcPts val="11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As fases vêm do roteiro do experimento, não de verificação independente. Verificou-se concordância com o roteiro, não validação contra medida de campo.</a:t>
            </a:r>
          </a:p>
          <a:p>
            <a:pPr marL="219456" indent="-219456" algn="l">
              <a:lnSpc>
                <a:spcPct val="124000"/>
              </a:lnSpc>
              <a:spcAft>
                <a:spcPts val="11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Sem atuação na RAN. O laboratório não comprova O1/NETCONF no softmodem OAI monolítico, nem quota de PRB por E2SM-RC.</a:t>
            </a:r>
          </a:p>
          <a:p>
            <a:pPr marL="219456" indent="-219456" algn="l">
              <a:lnSpc>
                <a:spcPct val="124000"/>
              </a:lnSpc>
              <a:spcAft>
                <a:spcPts val="1100"/>
              </a:spcAft>
              <a:defRPr sz="1500" b="0">
                <a:solidFill>
                  <a:srgbClr val="444444"/>
                </a:solidFill>
                <a:latin typeface="Segoe UI"/>
              </a:defRPr>
            </a:pPr>
            <a:r>
              <a:rPr sz="1500" b="0">
                <a:solidFill>
                  <a:srgbClr val="444444"/>
                </a:solidFill>
                <a:latin typeface="Segoe UI"/>
              </a:rPr>
              <a:t>—  Telemetria sintética, sem identificador de assinante. Em rede real, KPM por UE exigiria minimização e política de retenção explícitas.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382512"/>
            <a:ext cx="7356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Segoe UI"/>
              </a:defRPr>
            </a:pPr>
            <a:r>
              <a:rPr sz="950" b="0">
                <a:solidFill>
                  <a:srgbClr val="707070"/>
                </a:solidFill>
                <a:latin typeface="Segoe UI"/>
              </a:rPr>
              <a:t>Projeto Integrador · Tema G2 — Anomalia de carga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7687" y="6382512"/>
            <a:ext cx="31527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Consolas"/>
              </a:defRPr>
            </a:pPr>
            <a:r>
              <a:rPr sz="950" b="0">
                <a:solidFill>
                  <a:srgbClr val="707070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1A1A1A"/>
                </a:solidFill>
                <a:latin typeface="Segoe UI"/>
              </a:defRPr>
            </a:pPr>
            <a:r>
              <a:rPr sz="2500" b="1">
                <a:solidFill>
                  <a:srgbClr val="1A1A1A"/>
                </a:solidFill>
                <a:latin typeface="Segoe UI"/>
              </a:rPr>
              <a:t>Conclusões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188720"/>
            <a:ext cx="10509199" cy="0"/>
          </a:xfrm>
          <a:prstGeom prst="line">
            <a:avLst/>
          </a:prstGeom>
          <a:ln w="1143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444752"/>
            <a:ext cx="10509199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24000"/>
              </a:lnSpc>
              <a:spcAft>
                <a:spcPts val="1400"/>
              </a:spcAft>
              <a:defRPr sz="1550" b="0">
                <a:solidFill>
                  <a:srgbClr val="444444"/>
                </a:solidFill>
                <a:latin typeface="Segoe UI"/>
              </a:defRPr>
            </a:pPr>
            <a:r>
              <a:rPr sz="1550" b="0">
                <a:solidFill>
                  <a:srgbClr val="444444"/>
                </a:solidFill>
                <a:latin typeface="Segoe UI"/>
              </a:rPr>
              <a:t>—  As medidas KPM disponíveis separam a fase de carga da fase de referência sem ambiguidade neste experimento: 0 % contra 98,3 % de amostras anômalas, e severidade média de 0,04 contra 6,61.</a:t>
            </a:r>
          </a:p>
          <a:p>
            <a:pPr marL="219456" indent="-219456" algn="l">
              <a:lnSpc>
                <a:spcPct val="124000"/>
              </a:lnSpc>
              <a:spcAft>
                <a:spcPts val="1400"/>
              </a:spcAft>
              <a:defRPr sz="1550" b="0">
                <a:solidFill>
                  <a:srgbClr val="444444"/>
                </a:solidFill>
                <a:latin typeface="Segoe UI"/>
              </a:defRPr>
            </a:pPr>
            <a:r>
              <a:rPr sz="1550" b="0">
                <a:solidFill>
                  <a:srgbClr val="444444"/>
                </a:solidFill>
                <a:latin typeface="Segoe UI"/>
              </a:rPr>
              <a:t>—  O desvio é sustentado ao longo de toda a fase de carga, o que justifica decidir por janela de amostras em vez de por amostra isolada.</a:t>
            </a:r>
          </a:p>
          <a:p>
            <a:pPr marL="219456" indent="-219456" algn="l">
              <a:lnSpc>
                <a:spcPct val="124000"/>
              </a:lnSpc>
              <a:spcAft>
                <a:spcPts val="1400"/>
              </a:spcAft>
              <a:defRPr sz="1550" b="0">
                <a:solidFill>
                  <a:srgbClr val="444444"/>
                </a:solidFill>
                <a:latin typeface="Segoe UI"/>
              </a:defRPr>
            </a:pPr>
            <a:r>
              <a:rPr sz="1550" b="0">
                <a:solidFill>
                  <a:srgbClr val="444444"/>
                </a:solidFill>
                <a:latin typeface="Segoe UI"/>
              </a:rPr>
              <a:t>—  PRB e vazão de uplink são as métricas discriminantes. O atraso RLC não discrimina carga neste laboratório, e a forma como é registrado — zeros no lugar de ausência — é a principal fonte de falso alarme.</a:t>
            </a:r>
          </a:p>
          <a:p>
            <a:pPr marL="219456" indent="-219456" algn="l">
              <a:lnSpc>
                <a:spcPct val="124000"/>
              </a:lnSpc>
              <a:spcAft>
                <a:spcPts val="1400"/>
              </a:spcAft>
              <a:defRPr sz="1550" b="0">
                <a:solidFill>
                  <a:srgbClr val="444444"/>
                </a:solidFill>
                <a:latin typeface="Segoe UI"/>
              </a:defRPr>
            </a:pPr>
            <a:r>
              <a:rPr sz="1550" b="0">
                <a:solidFill>
                  <a:srgbClr val="444444"/>
                </a:solidFill>
                <a:latin typeface="Segoe UI"/>
              </a:rPr>
              <a:t>—  A concordância entre duas métricas é o elemento que torna o detector utilizável: sem ela, a taxa de falso alarme na fase de referência passa de 0 % para 45 %.</a:t>
            </a:r>
          </a:p>
          <a:p>
            <a:pPr marL="219456" indent="-219456" algn="l">
              <a:lnSpc>
                <a:spcPct val="124000"/>
              </a:lnSpc>
              <a:spcAft>
                <a:spcPts val="1400"/>
              </a:spcAft>
              <a:defRPr sz="1550" b="0">
                <a:solidFill>
                  <a:srgbClr val="444444"/>
                </a:solidFill>
                <a:latin typeface="Segoe UI"/>
              </a:defRPr>
            </a:pPr>
            <a:r>
              <a:rPr sz="1550" b="0">
                <a:solidFill>
                  <a:srgbClr val="444444"/>
                </a:solidFill>
                <a:latin typeface="Segoe UI"/>
              </a:rPr>
              <a:t>—  A recomendação resultante é uma política A1 candidata em execução simulada, sujeita a validação humana, sem qualquer alegação de efeito sobre a RAN.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382512"/>
            <a:ext cx="7356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Segoe UI"/>
              </a:defRPr>
            </a:pPr>
            <a:r>
              <a:rPr sz="950" b="0">
                <a:solidFill>
                  <a:srgbClr val="707070"/>
                </a:solidFill>
                <a:latin typeface="Segoe UI"/>
              </a:rPr>
              <a:t>Projeto Integrador · Tema G2 — Anomalia de carga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7687" y="6382512"/>
            <a:ext cx="31527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0"/>
              </a:spcAft>
              <a:defRPr sz="950" b="0">
                <a:solidFill>
                  <a:srgbClr val="707070"/>
                </a:solidFill>
                <a:latin typeface="Consolas"/>
              </a:defRPr>
            </a:pPr>
            <a:r>
              <a:rPr sz="950" b="0">
                <a:solidFill>
                  <a:srgbClr val="707070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Detecção de anomalia de carga em telemetria KPM/E2</dc:title>
  <dc:subject>Projeto Integrador · Tema G2 · Grupo 1</dc:subject>
  <dc:creator/>
  <cp:keywords/>
  <dc:description>Análise de Dados em Redes de Telecom — CESAR School</dc:description>
  <cp:lastModifiedBy>Steve Canny</cp:lastModifiedBy>
  <cp:revision>9</cp:revision>
  <dcterms:created xsi:type="dcterms:W3CDTF">2013-01-27T09:14:16Z</dcterms:created>
  <dcterms:modified xsi:type="dcterms:W3CDTF">2026-08-28T18:22:53Z</dcterms:modified>
  <cp:category/>
</cp:coreProperties>
</file>